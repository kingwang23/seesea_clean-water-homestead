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Relationship Id="rId1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3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8211312" y="530352"/>
            <a:ext cx="3474720" cy="5440680"/>
          </a:xfrm>
          <a:prstGeom prst="roundRect">
            <a:avLst/>
          </a:prstGeom>
          <a:solidFill>
            <a:srgbClr val="E6F2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13232" y="685800"/>
            <a:ext cx="66751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750" dirty="0" b="1">
                <a:solidFill>
                  <a:srgbClr val="FFCF7A"/>
                </a:solidFill>
                <a:latin typeface="Microsoft YaHei"/>
                <a:ea typeface="Microsoft YaHei"/>
              </a:rPr>
              <a:t>SeeSea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76656" y="1234440"/>
            <a:ext cx="6812280" cy="12344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100" dirty="0" b="1">
                <a:solidFill>
                  <a:srgbClr val="FFFFFF"/>
                </a:solidFill>
                <a:latin typeface="Microsoft YaHei"/>
                <a:ea typeface="Microsoft YaHei"/>
              </a:rPr>
              <a:t>水下垃圾治理</a:t>
            </a:r>
          </a:p>
          <a:p>
            <a:pPr algn="l"/>
            <a:r>
              <a:rPr lang="zh-CN" sz="3100" dirty="0">
                <a:solidFill>
                  <a:srgbClr val="FFFFFF"/>
                </a:solidFill>
                <a:latin typeface="Microsoft YaHei"/>
                <a:ea typeface="Microsoft YaHei"/>
              </a:rPr>
              <a:t>多智能体 AI 决策系统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31520" y="2743200"/>
            <a:ext cx="6492240" cy="8229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250" dirty="0">
                <a:solidFill>
                  <a:srgbClr val="D7ECEE"/>
                </a:solidFill>
                <a:latin typeface="Microsoft YaHei"/>
                <a:ea typeface="Microsoft YaHei"/>
              </a:rPr>
              <a:t>从垃圾识别到污染治理决策：识别、证据、溯源、任务、报告、公益影响闭环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3840480"/>
            <a:ext cx="1691640" cy="411480"/>
          </a:xfrm>
          <a:prstGeom prst="roundRect">
            <a:avLst/>
          </a:prstGeom>
          <a:solidFill>
            <a:srgbClr val="FFCF7A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63D49"/>
                </a:solidFill>
                <a:latin typeface="Microsoft YaHei"/>
                <a:ea typeface="Microsoft YaHei"/>
              </a:rPr>
              <a:t>垃圾身份证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2606040" y="3840480"/>
            <a:ext cx="1600200" cy="411480"/>
          </a:xfrm>
          <a:prstGeom prst="roundRect">
            <a:avLst/>
          </a:prstGeom>
          <a:solidFill>
            <a:srgbClr val="FFCF7A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63D49"/>
                </a:solidFill>
                <a:latin typeface="Microsoft YaHei"/>
                <a:ea typeface="Microsoft YaHei"/>
              </a:rPr>
              <a:t>AI 证据链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370832" y="3840480"/>
            <a:ext cx="1828800" cy="411480"/>
          </a:xfrm>
          <a:prstGeom prst="roundRect">
            <a:avLst/>
          </a:prstGeom>
          <a:solidFill>
            <a:srgbClr val="FFCF7A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63D49"/>
                </a:solidFill>
                <a:latin typeface="Microsoft YaHei"/>
                <a:ea typeface="Microsoft YaHei"/>
              </a:rPr>
              <a:t>漂流溯源沙盘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49808" y="6053328"/>
            <a:ext cx="5303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850" dirty="0">
                <a:solidFill>
                  <a:srgbClr val="BFDDE1"/>
                </a:solidFill>
                <a:latin typeface="Microsoft YaHei"/>
                <a:ea typeface="Microsoft YaHei"/>
              </a:rPr>
              <a:t>8 分钟项目路演 | 面向洁净水下家园项目场景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485632" y="868680"/>
            <a:ext cx="2907792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400" dirty="0" b="1">
                <a:solidFill>
                  <a:srgbClr val="064B58"/>
                </a:solidFill>
                <a:latin typeface="Microsoft YaHei"/>
                <a:ea typeface="Microsoft YaHei"/>
              </a:rPr>
              <a:t>项目价值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485632" y="1481328"/>
            <a:ext cx="2852928" cy="74980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980" dirty="0">
                <a:solidFill>
                  <a:srgbClr val="172126"/>
                </a:solidFill>
                <a:latin typeface="Microsoft YaHei"/>
                <a:ea typeface="Microsoft YaHei"/>
              </a:rPr>
              <a:t>把潜水员现场采集的数据，转化为可审核、可派发、可溯源、可传播的治理资产。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485632" y="2514600"/>
            <a:ext cx="2633472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B6F7F"/>
                </a:solidFill>
                <a:latin typeface="Microsoft YaHei"/>
                <a:ea typeface="Microsoft YaHei"/>
              </a:rPr>
              <a:t>双端系统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485632" y="2907792"/>
            <a:ext cx="265176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900" dirty="0">
                <a:solidFill>
                  <a:srgbClr val="172126"/>
                </a:solidFill>
                <a:latin typeface="Microsoft YaHei"/>
                <a:ea typeface="Microsoft YaHei"/>
              </a:rPr>
              <a:t>潜水员端 + 后台管理员端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485632" y="3657600"/>
            <a:ext cx="2633472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B6F7F"/>
                </a:solidFill>
                <a:latin typeface="Microsoft YaHei"/>
                <a:ea typeface="Microsoft YaHei"/>
              </a:rPr>
              <a:t>AI 决策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485632" y="4050791"/>
            <a:ext cx="26517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900" dirty="0">
                <a:solidFill>
                  <a:srgbClr val="172126"/>
                </a:solidFill>
                <a:latin typeface="Microsoft YaHei"/>
                <a:ea typeface="Microsoft YaHei"/>
              </a:rPr>
              <a:t>视觉理解、知识图谱、漂流模拟、多智能体报告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485632" y="4956048"/>
            <a:ext cx="2633472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B6F7F"/>
                </a:solidFill>
                <a:latin typeface="Microsoft YaHei"/>
                <a:ea typeface="Microsoft YaHei"/>
              </a:rPr>
              <a:t>治理闭环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485632" y="5349240"/>
            <a:ext cx="265176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900" dirty="0">
                <a:solidFill>
                  <a:srgbClr val="172126"/>
                </a:solidFill>
                <a:latin typeface="Microsoft YaHei"/>
                <a:ea typeface="Microsoft YaHei"/>
              </a:rPr>
              <a:t>发现问题 -&gt; 执行任务 -&gt; 证明影响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1. 项目痛点：数据很多，但治理链条还不够智能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项目方已有长期行动基础，但核心环节仍依赖人工，难以放大数据价值。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85800" y="1508760"/>
            <a:ext cx="242316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450" dirty="0" b="1">
                <a:solidFill>
                  <a:srgbClr val="064B58"/>
                </a:solidFill>
                <a:latin typeface="Microsoft YaHei"/>
                <a:ea typeface="Microsoft YaHei"/>
              </a:rPr>
              <a:t>9700+ 人次</a:t>
            </a:r>
          </a:p>
          <a:p>
            <a:pPr algn="ctr"/>
            <a:r>
              <a:rPr lang="zh-CN" sz="1450" dirty="0">
                <a:solidFill>
                  <a:srgbClr val="064B58"/>
                </a:solidFill>
                <a:latin typeface="Microsoft YaHei"/>
                <a:ea typeface="Microsoft YaHei"/>
              </a:rPr>
              <a:t>潜水员参与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64992" y="1508760"/>
            <a:ext cx="242316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450" dirty="0" b="1">
                <a:solidFill>
                  <a:srgbClr val="064B58"/>
                </a:solidFill>
                <a:latin typeface="Microsoft YaHei"/>
                <a:ea typeface="Microsoft YaHei"/>
              </a:rPr>
              <a:t>45000+ 件</a:t>
            </a:r>
          </a:p>
          <a:p>
            <a:pPr algn="ctr"/>
            <a:r>
              <a:rPr lang="zh-CN" sz="1450" dirty="0">
                <a:solidFill>
                  <a:srgbClr val="064B58"/>
                </a:solidFill>
                <a:latin typeface="Microsoft YaHei"/>
                <a:ea typeface="Microsoft YaHei"/>
              </a:rPr>
              <a:t>水下垃圾清理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053328" y="1508760"/>
            <a:ext cx="242316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450" dirty="0" b="1">
                <a:solidFill>
                  <a:srgbClr val="064B58"/>
                </a:solidFill>
                <a:latin typeface="Microsoft YaHei"/>
                <a:ea typeface="Microsoft YaHei"/>
              </a:rPr>
              <a:t>13700+ kg</a:t>
            </a:r>
          </a:p>
          <a:p>
            <a:pPr algn="ctr"/>
            <a:r>
              <a:rPr lang="zh-CN" sz="1450" dirty="0">
                <a:solidFill>
                  <a:srgbClr val="064B58"/>
                </a:solidFill>
                <a:latin typeface="Microsoft YaHei"/>
                <a:ea typeface="Microsoft YaHei"/>
              </a:rPr>
              <a:t>累计清理重量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732520" y="1508760"/>
            <a:ext cx="242316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450" dirty="0" b="1">
                <a:solidFill>
                  <a:srgbClr val="064B58"/>
                </a:solidFill>
                <a:latin typeface="Microsoft YaHei"/>
                <a:ea typeface="Microsoft YaHei"/>
              </a:rPr>
              <a:t>5 日内</a:t>
            </a:r>
          </a:p>
          <a:p>
            <a:pPr algn="ctr"/>
            <a:r>
              <a:rPr lang="zh-CN" sz="1450" dirty="0">
                <a:solidFill>
                  <a:srgbClr val="064B58"/>
                </a:solidFill>
                <a:latin typeface="Microsoft YaHei"/>
                <a:ea typeface="Microsoft YaHei"/>
              </a:rPr>
              <a:t>数据/影像提交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13232" y="2971800"/>
            <a:ext cx="3401568" cy="14447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人工识别耗时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分类、称重、表单核对和数据归档依赖人工，效率与一致性受限。</a:t>
            </a:r>
          </a:p>
        </p:txBody>
      </p:sp>
      <p:sp>
        <p:nvSpPr>
          <p:cNvPr id="90" name="Shape 90"/>
          <p:cNvSpPr/>
          <p:nvPr/>
        </p:nvSpPr>
        <p:spPr>
          <a:xfrm>
            <a:off x="713232" y="2971800"/>
            <a:ext cx="73152" cy="1444752"/>
          </a:xfrm>
          <a:prstGeom prst="rect">
            <a:avLst/>
          </a:prstGeom>
          <a:solidFill>
            <a:srgbClr val="B4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4407408" y="2971800"/>
            <a:ext cx="3401568" cy="14447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溯源能力不足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已有数据难以回答“垃圾从哪里来、会漂向哪里、优先治理哪里”。</a:t>
            </a:r>
          </a:p>
        </p:txBody>
      </p:sp>
      <p:sp>
        <p:nvSpPr>
          <p:cNvPr id="92" name="Shape 92"/>
          <p:cNvSpPr/>
          <p:nvPr/>
        </p:nvSpPr>
        <p:spPr>
          <a:xfrm>
            <a:off x="4407408" y="2971800"/>
            <a:ext cx="73152" cy="1444752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8101583" y="2971800"/>
            <a:ext cx="3401568" cy="14447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成果传播受限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行动成果、志愿者反馈和治理价值没有形成可视化、可复核报告。</a:t>
            </a:r>
          </a:p>
        </p:txBody>
      </p:sp>
      <p:sp>
        <p:nvSpPr>
          <p:cNvPr id="94" name="Shape 94"/>
          <p:cNvSpPr/>
          <p:nvPr/>
        </p:nvSpPr>
        <p:spPr>
          <a:xfrm>
            <a:off x="8101583" y="2971800"/>
            <a:ext cx="73152" cy="1444752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749808" y="4892040"/>
            <a:ext cx="10515600" cy="54864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500" dirty="0" b="1">
                <a:solidFill>
                  <a:srgbClr val="064B58"/>
                </a:solidFill>
                <a:latin typeface="Microsoft YaHei"/>
                <a:ea typeface="Microsoft YaHei"/>
              </a:rPr>
              <a:t>SeeSea 的目标：让每一次潜水清理产生可用于治理决策的数据资产。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2. 需求匹配：从项目要求到系统模块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系统覆盖核心需求、次要需求和潜水作业流程要求。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匹配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77240" y="1417320"/>
            <a:ext cx="3108960" cy="5303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64B58"/>
                </a:solidFill>
                <a:latin typeface="Microsoft YaHei"/>
                <a:ea typeface="Microsoft YaHei"/>
              </a:rPr>
              <a:t>垃圾溯源 AI 分析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4069080" y="1417320"/>
            <a:ext cx="7269480" cy="5303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垃圾身份证 + AI 证据链 + 漂流沙盘 + 报告中心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77240" y="2103120"/>
            <a:ext cx="3108960" cy="530352"/>
          </a:xfrm>
          <a:prstGeom prst="roundRect">
            <a:avLst/>
          </a:prstGeom>
          <a:solidFill>
            <a:srgbClr val="F8FBFB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64B58"/>
                </a:solidFill>
                <a:latin typeface="Microsoft YaHei"/>
                <a:ea typeface="Microsoft YaHei"/>
              </a:rPr>
              <a:t>多维协作线上平台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4069080" y="2103120"/>
            <a:ext cx="7269480" cy="530352"/>
          </a:xfrm>
          <a:prstGeom prst="roundRect">
            <a:avLst/>
          </a:prstGeom>
          <a:solidFill>
            <a:srgbClr val="F8FBFB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潜水员端 + 管理员端 + 数据库 + 治理地图 + 分析面板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777240" y="2788920"/>
            <a:ext cx="3108960" cy="5303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64B58"/>
                </a:solidFill>
                <a:latin typeface="Microsoft YaHei"/>
                <a:ea typeface="Microsoft YaHei"/>
              </a:rPr>
              <a:t>水下图像增强与辨识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4069080" y="2788920"/>
            <a:ext cx="7269480" cy="5303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原图 / 增强图 / AI 识别图 + YOLO/OCR/VLM 可替换接口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777240" y="3474720"/>
            <a:ext cx="3108960" cy="530352"/>
          </a:xfrm>
          <a:prstGeom prst="roundRect">
            <a:avLst/>
          </a:prstGeom>
          <a:solidFill>
            <a:srgbClr val="F8FBFB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64B58"/>
                </a:solidFill>
                <a:latin typeface="Microsoft YaHei"/>
                <a:ea typeface="Microsoft YaHei"/>
              </a:rPr>
              <a:t>志愿者反馈语义分析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4069080" y="3474720"/>
            <a:ext cx="7269480" cy="530352"/>
          </a:xfrm>
          <a:prstGeom prst="roundRect">
            <a:avLst/>
          </a:prstGeom>
          <a:solidFill>
            <a:srgbClr val="F8FBFB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心声反馈 -&gt; 风险关键词 -&gt; 安全复查任务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777240" y="4160520"/>
            <a:ext cx="3108960" cy="5303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64B58"/>
                </a:solidFill>
                <a:latin typeface="Microsoft YaHei"/>
                <a:ea typeface="Microsoft YaHei"/>
              </a:rPr>
              <a:t>潜水作业流程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4069080" y="4160520"/>
            <a:ext cx="7269480" cy="5303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签到、拍照、定位、上岸称重、分类计数、影像留存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777240" y="4846320"/>
            <a:ext cx="3108960" cy="530352"/>
          </a:xfrm>
          <a:prstGeom prst="roundRect">
            <a:avLst/>
          </a:prstGeom>
          <a:solidFill>
            <a:srgbClr val="F8FBFB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064B58"/>
                </a:solidFill>
                <a:latin typeface="Microsoft YaHei"/>
                <a:ea typeface="Microsoft YaHei"/>
              </a:rPr>
              <a:t>100 类海洋垃圾分类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4069080" y="4846320"/>
            <a:ext cx="7269480" cy="530352"/>
          </a:xfrm>
          <a:prstGeom prst="roundRect">
            <a:avLst/>
          </a:prstGeom>
          <a:solidFill>
            <a:srgbClr val="F8FBFB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内置分类体系，支持材质、品类、来源和其他垃圾扩展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22960" y="5806440"/>
            <a:ext cx="1037844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1050" dirty="0" b="1">
                <a:solidFill>
                  <a:srgbClr val="064B58"/>
                </a:solidFill>
                <a:latin typeface="Microsoft YaHei"/>
                <a:ea typeface="Microsoft YaHei"/>
              </a:rPr>
              <a:t>结论：SeeSea 不是只做一个需求点，而是把项目方的采集、管理、AI、展示和报告需求串成闭环。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3. 系统总流程：从水下现场到治理决策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潜水员端负责真实采集，管理员端负责审核、派发、分析和发布。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闭环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02920" y="1828800"/>
            <a:ext cx="1627632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水下采集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签到 / 拍照 / 定位 / 环境</a:t>
            </a:r>
          </a:p>
        </p:txBody>
      </p:sp>
      <p:sp>
        <p:nvSpPr>
          <p:cNvPr id="90" name="Shape 90"/>
          <p:cNvSpPr/>
          <p:nvPr/>
        </p:nvSpPr>
        <p:spPr>
          <a:xfrm>
            <a:off x="502920" y="1828800"/>
            <a:ext cx="73152" cy="10515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0" name="Line 80"/>
          <p:cNvCxnSpPr/>
          <p:nvPr/>
        </p:nvCxnSpPr>
        <p:spPr>
          <a:xfrm>
            <a:off x="2148840" y="2359152"/>
            <a:ext cx="384048" cy="1645919"/>
          </a:xfrm>
          <a:prstGeom prst="line">
            <a:avLst/>
          </a:prstGeom>
          <a:ln w="18000">
            <a:solidFill>
              <a:srgbClr val="B66A00"/>
            </a:solidFill>
          </a:ln>
        </p:spPr>
      </p:cxnSp>
      <p:sp>
        <p:nvSpPr>
          <p:cNvPr id="41" name="Text 41"/>
          <p:cNvSpPr txBox="1"/>
          <p:nvPr/>
        </p:nvSpPr>
        <p:spPr>
          <a:xfrm>
            <a:off x="2423160" y="3474720"/>
            <a:ext cx="1627632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AI 处理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增强 / 检测 / OCR / VLM</a:t>
            </a:r>
          </a:p>
        </p:txBody>
      </p:sp>
      <p:sp>
        <p:nvSpPr>
          <p:cNvPr id="91" name="Shape 91"/>
          <p:cNvSpPr/>
          <p:nvPr/>
        </p:nvSpPr>
        <p:spPr>
          <a:xfrm>
            <a:off x="2423160" y="3474720"/>
            <a:ext cx="73152" cy="10515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1" name="Line 81"/>
          <p:cNvCxnSpPr/>
          <p:nvPr/>
        </p:nvCxnSpPr>
        <p:spPr>
          <a:xfrm>
            <a:off x="4069080" y="2359152"/>
            <a:ext cx="384048" cy="1645919"/>
          </a:xfrm>
          <a:prstGeom prst="line">
            <a:avLst/>
          </a:prstGeom>
          <a:ln w="18000">
            <a:solidFill>
              <a:srgbClr val="B66A00"/>
            </a:solidFill>
          </a:ln>
        </p:spPr>
      </p:cxnSp>
      <p:sp>
        <p:nvSpPr>
          <p:cNvPr id="42" name="Text 42"/>
          <p:cNvSpPr txBox="1"/>
          <p:nvPr/>
        </p:nvSpPr>
        <p:spPr>
          <a:xfrm>
            <a:off x="4343400" y="1828800"/>
            <a:ext cx="1627632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垃圾身份证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结构化档案 / 证据链</a:t>
            </a:r>
          </a:p>
        </p:txBody>
      </p:sp>
      <p:sp>
        <p:nvSpPr>
          <p:cNvPr id="92" name="Shape 92"/>
          <p:cNvSpPr/>
          <p:nvPr/>
        </p:nvSpPr>
        <p:spPr>
          <a:xfrm>
            <a:off x="4343400" y="1828800"/>
            <a:ext cx="73152" cy="10515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2" name="Line 82"/>
          <p:cNvCxnSpPr/>
          <p:nvPr/>
        </p:nvCxnSpPr>
        <p:spPr>
          <a:xfrm>
            <a:off x="5989320" y="2359152"/>
            <a:ext cx="384048" cy="1645919"/>
          </a:xfrm>
          <a:prstGeom prst="line">
            <a:avLst/>
          </a:prstGeom>
          <a:ln w="18000">
            <a:solidFill>
              <a:srgbClr val="B66A00"/>
            </a:solidFill>
          </a:ln>
        </p:spPr>
      </p:cxnSp>
      <p:sp>
        <p:nvSpPr>
          <p:cNvPr id="43" name="Text 43"/>
          <p:cNvSpPr txBox="1"/>
          <p:nvPr/>
        </p:nvSpPr>
        <p:spPr>
          <a:xfrm>
            <a:off x="6263640" y="3474720"/>
            <a:ext cx="1627632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岸上复核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分类 / 称重 / 数量 / 反馈</a:t>
            </a:r>
          </a:p>
        </p:txBody>
      </p:sp>
      <p:sp>
        <p:nvSpPr>
          <p:cNvPr id="93" name="Shape 93"/>
          <p:cNvSpPr/>
          <p:nvPr/>
        </p:nvSpPr>
        <p:spPr>
          <a:xfrm>
            <a:off x="6263640" y="3474720"/>
            <a:ext cx="73152" cy="10515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3" name="Line 83"/>
          <p:cNvCxnSpPr/>
          <p:nvPr/>
        </p:nvCxnSpPr>
        <p:spPr>
          <a:xfrm>
            <a:off x="7909560" y="2359152"/>
            <a:ext cx="384047" cy="1645919"/>
          </a:xfrm>
          <a:prstGeom prst="line">
            <a:avLst/>
          </a:prstGeom>
          <a:ln w="18000">
            <a:solidFill>
              <a:srgbClr val="B66A00"/>
            </a:solidFill>
          </a:ln>
        </p:spPr>
      </p:cxnSp>
      <p:sp>
        <p:nvSpPr>
          <p:cNvPr id="44" name="Text 44"/>
          <p:cNvSpPr txBox="1"/>
          <p:nvPr/>
        </p:nvSpPr>
        <p:spPr>
          <a:xfrm>
            <a:off x="8183879" y="1828800"/>
            <a:ext cx="1627632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后台治理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审核 / 派发 / 状态闭环</a:t>
            </a:r>
          </a:p>
        </p:txBody>
      </p:sp>
      <p:sp>
        <p:nvSpPr>
          <p:cNvPr id="94" name="Shape 94"/>
          <p:cNvSpPr/>
          <p:nvPr/>
        </p:nvSpPr>
        <p:spPr>
          <a:xfrm>
            <a:off x="8183879" y="1828800"/>
            <a:ext cx="73152" cy="10515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4" name="Line 84"/>
          <p:cNvCxnSpPr/>
          <p:nvPr/>
        </p:nvCxnSpPr>
        <p:spPr>
          <a:xfrm>
            <a:off x="9829800" y="2359152"/>
            <a:ext cx="384047" cy="1645919"/>
          </a:xfrm>
          <a:prstGeom prst="line">
            <a:avLst/>
          </a:prstGeom>
          <a:ln w="18000">
            <a:solidFill>
              <a:srgbClr val="B66A00"/>
            </a:solidFill>
          </a:ln>
        </p:spPr>
      </p:cxnSp>
      <p:sp>
        <p:nvSpPr>
          <p:cNvPr id="45" name="Text 45"/>
          <p:cNvSpPr txBox="1"/>
          <p:nvPr/>
        </p:nvSpPr>
        <p:spPr>
          <a:xfrm>
            <a:off x="10104119" y="3474720"/>
            <a:ext cx="1627632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溯源报告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漂流沙盘 / 多 Agent 报告</a:t>
            </a:r>
          </a:p>
        </p:txBody>
      </p:sp>
      <p:sp>
        <p:nvSpPr>
          <p:cNvPr id="95" name="Shape 95"/>
          <p:cNvSpPr/>
          <p:nvPr/>
        </p:nvSpPr>
        <p:spPr>
          <a:xfrm>
            <a:off x="10104119" y="3474720"/>
            <a:ext cx="73152" cy="10515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822960" y="5349240"/>
            <a:ext cx="3337560" cy="438912"/>
          </a:xfrm>
          <a:prstGeom prst="roundRect">
            <a:avLst/>
          </a:prstGeom>
          <a:solidFill>
            <a:srgbClr val="E6F2F1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1100" dirty="0" b="1">
                <a:solidFill>
                  <a:srgbClr val="064B58"/>
                </a:solidFill>
                <a:latin typeface="Microsoft YaHei"/>
                <a:ea typeface="Microsoft YaHei"/>
              </a:rPr>
              <a:t>数据主线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4389120" y="5349240"/>
            <a:ext cx="3337560" cy="438912"/>
          </a:xfrm>
          <a:prstGeom prst="roundRect">
            <a:avLst/>
          </a:prstGeom>
          <a:solidFill>
            <a:srgbClr val="E6F2F1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1100" dirty="0" b="1">
                <a:solidFill>
                  <a:srgbClr val="064B58"/>
                </a:solidFill>
                <a:latin typeface="Microsoft YaHei"/>
                <a:ea typeface="Microsoft YaHei"/>
              </a:rPr>
              <a:t>业务主线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7955279" y="5349240"/>
            <a:ext cx="3337560" cy="438912"/>
          </a:xfrm>
          <a:prstGeom prst="roundRect">
            <a:avLst/>
          </a:prstGeom>
          <a:solidFill>
            <a:srgbClr val="E6F2F1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1100" dirty="0" b="1">
                <a:solidFill>
                  <a:srgbClr val="064B58"/>
                </a:solidFill>
                <a:latin typeface="Microsoft YaHei"/>
                <a:ea typeface="Microsoft YaHei"/>
              </a:rPr>
              <a:t>治理主线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822960" y="5815584"/>
            <a:ext cx="333756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850" dirty="0">
                <a:solidFill>
                  <a:srgbClr val="617079"/>
                </a:solidFill>
                <a:latin typeface="Microsoft YaHei"/>
                <a:ea typeface="Microsoft YaHei"/>
              </a:rPr>
              <a:t>Case / Debris / Evidence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4389120" y="5815584"/>
            <a:ext cx="333756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850" dirty="0">
                <a:solidFill>
                  <a:srgbClr val="617079"/>
                </a:solidFill>
                <a:latin typeface="Microsoft YaHei"/>
                <a:ea typeface="Microsoft YaHei"/>
              </a:rPr>
              <a:t>Task / Review / Weighing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955279" y="5815584"/>
            <a:ext cx="333756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850" dirty="0">
                <a:solidFill>
                  <a:srgbClr val="617079"/>
                </a:solidFill>
                <a:latin typeface="Microsoft YaHei"/>
                <a:ea typeface="Microsoft YaHei"/>
              </a:rPr>
              <a:t>Drift / Report /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4. 潜水员端：贴合真实作业流程的移动工作台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手机浏览器即可使用，适合现场快速记录和上岸复核。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潜水员端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31520" y="1417320"/>
            <a:ext cx="3291840" cy="123444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日历工作台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按日期查看历史作业、上传案例、管理员任务和累计工时。</a:t>
            </a:r>
          </a:p>
        </p:txBody>
      </p:sp>
      <p:sp>
        <p:nvSpPr>
          <p:cNvPr id="90" name="Shape 90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4434840" y="1417320"/>
            <a:ext cx="3291840" cy="123444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水下模式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签到、安全确认、拍照/上传、地图选点、天气/能见度/深度记录。</a:t>
            </a:r>
          </a:p>
        </p:txBody>
      </p:sp>
      <p:sp>
        <p:nvSpPr>
          <p:cNvPr id="92" name="Shape 92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8138160" y="1417320"/>
            <a:ext cx="3291840" cy="123444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岸上模式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选择日期案例，查看原图/增强图/识别图，完成分类、称重和入库确认。</a:t>
            </a:r>
          </a:p>
        </p:txBody>
      </p:sp>
      <p:sp>
        <p:nvSpPr>
          <p:cNvPr id="94" name="Shape 94"/>
          <p:cNvSpPr/>
          <p:nvPr/>
        </p:nvSpPr>
        <p:spPr>
          <a:xfrm>
            <a:off x="8138160" y="1417320"/>
            <a:ext cx="73152" cy="123444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777240" y="3154680"/>
            <a:ext cx="5212080" cy="17830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200" dirty="0" b="1">
                <a:solidFill>
                  <a:srgbClr val="172126"/>
                </a:solidFill>
                <a:latin typeface="Microsoft YaHei"/>
                <a:ea typeface="Microsoft YaHei"/>
              </a:rPr>
              <a:t>满足作业流程 PDF</a:t>
            </a:r>
          </a:p>
          <a:p>
            <a:pPr algn="l"/>
            <a:r>
              <a:rPr lang="zh-CN" sz="1200" dirty="0">
                <a:solidFill>
                  <a:srgbClr val="172126"/>
                </a:solidFill>
                <a:latin typeface="Microsoft YaHei"/>
                <a:ea typeface="Microsoft YaHei"/>
              </a:rPr>
              <a:t>入水前标准程序、活动安全记录、水下垃圾影像、出水称重、分类计数、反馈提交。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355080" y="3154680"/>
            <a:ext cx="4892040" cy="17830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200" dirty="0" b="1">
                <a:solidFill>
                  <a:srgbClr val="172126"/>
                </a:solidFill>
                <a:latin typeface="Microsoft YaHei"/>
                <a:ea typeface="Microsoft YaHei"/>
              </a:rPr>
              <a:t>降低一线负担</a:t>
            </a:r>
          </a:p>
          <a:p>
            <a:pPr algn="l"/>
            <a:r>
              <a:rPr lang="zh-CN" sz="1200" dirty="0">
                <a:solidFill>
                  <a:srgbClr val="172126"/>
                </a:solidFill>
                <a:latin typeface="Microsoft YaHei"/>
                <a:ea typeface="Microsoft YaHei"/>
              </a:rPr>
              <a:t>潜水员只需完成现场必要操作；AI 和后台把数据整理为结构化资产。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914400" y="5559552"/>
            <a:ext cx="10012680" cy="402336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180" dirty="0" b="1">
                <a:solidFill>
                  <a:srgbClr val="064B58"/>
                </a:solidFill>
                <a:latin typeface="Microsoft YaHei"/>
                <a:ea typeface="Microsoft YaHei"/>
              </a:rPr>
              <a:t>关键价值：让“照片 + 表单”升级为“可审核案例 + 可治理任务 + 可统计贡献”。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5. 管理员端：CRM 式海洋垃圾治理后台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把人员、任务、垃圾、地图、报告作为治理资源统一管理。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管理员端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85800" y="1371600"/>
            <a:ext cx="338328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治理态势首页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真实地图点位、KPI、活动趋势、潜水员贡献、近期任务、志愿者洞察。</a:t>
            </a:r>
          </a:p>
        </p:txBody>
      </p:sp>
      <p:sp>
        <p:nvSpPr>
          <p:cNvPr id="90" name="Shape 90"/>
          <p:cNvSpPr/>
          <p:nvPr/>
        </p:nvSpPr>
        <p:spPr>
          <a:xfrm>
            <a:off x="685800" y="1371600"/>
            <a:ext cx="73152" cy="1115568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4407408" y="1371600"/>
            <a:ext cx="338328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潜水员活动管理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按潜水员查看工作日历、每日案例、作业批次、工时和贡献。</a:t>
            </a:r>
          </a:p>
        </p:txBody>
      </p:sp>
      <p:sp>
        <p:nvSpPr>
          <p:cNvPr id="92" name="Shape 92"/>
          <p:cNvSpPr/>
          <p:nvPr/>
        </p:nvSpPr>
        <p:spPr>
          <a:xfrm>
            <a:off x="4407408" y="1371600"/>
            <a:ext cx="73152" cy="1115568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8119872" y="1371600"/>
            <a:ext cx="338328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垃圾管理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清理/未清理状态、人工审核、重新审核、派发任务、运行漂流分析。</a:t>
            </a:r>
          </a:p>
        </p:txBody>
      </p:sp>
      <p:sp>
        <p:nvSpPr>
          <p:cNvPr id="94" name="Shape 94"/>
          <p:cNvSpPr/>
          <p:nvPr/>
        </p:nvSpPr>
        <p:spPr>
          <a:xfrm>
            <a:off x="8119872" y="1371600"/>
            <a:ext cx="73152" cy="1115568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685800" y="2926080"/>
            <a:ext cx="338328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任务分配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地图查看进行中任务，可选择已有垃圾，也可点击地图创建新地点任务。</a:t>
            </a:r>
          </a:p>
        </p:txBody>
      </p:sp>
      <p:sp>
        <p:nvSpPr>
          <p:cNvPr id="96" name="Shape 96"/>
          <p:cNvSpPr/>
          <p:nvPr/>
        </p:nvSpPr>
        <p:spPr>
          <a:xfrm>
            <a:off x="685800" y="2926080"/>
            <a:ext cx="73152" cy="1115568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4407408" y="2926080"/>
            <a:ext cx="338328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漂流沙盘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单件/区域分析，展示垃圾分布、溯源轨迹、扩散路径和不确定性。</a:t>
            </a:r>
          </a:p>
        </p:txBody>
      </p:sp>
      <p:sp>
        <p:nvSpPr>
          <p:cNvPr id="98" name="Shape 98"/>
          <p:cNvSpPr/>
          <p:nvPr/>
        </p:nvSpPr>
        <p:spPr>
          <a:xfrm>
            <a:off x="4407408" y="2926080"/>
            <a:ext cx="73152" cy="1115568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8119872" y="2926080"/>
            <a:ext cx="338328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报告中心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生成草稿、查看多 Agent 结论、确认发布、归档、打印导出课件。</a:t>
            </a:r>
          </a:p>
        </p:txBody>
      </p:sp>
      <p:sp>
        <p:nvSpPr>
          <p:cNvPr id="100" name="Shape 100"/>
          <p:cNvSpPr/>
          <p:nvPr/>
        </p:nvSpPr>
        <p:spPr>
          <a:xfrm>
            <a:off x="8119872" y="2926080"/>
            <a:ext cx="73152" cy="1115568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868680" y="5257800"/>
            <a:ext cx="10195560" cy="50292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250" dirty="0" b="1">
                <a:solidFill>
                  <a:srgbClr val="064B58"/>
                </a:solidFill>
                <a:latin typeface="Microsoft YaHei"/>
                <a:ea typeface="Microsoft YaHei"/>
              </a:rPr>
              <a:t>后台的核心价值：从“数据归档”升级为“治理调度、质量审核和公益影响证明”。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6. 创新一：垃圾身份证 + AI 证据链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每件垃圾不是识别框，而是一条可追踪、可复核、可治理的档案。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77240" y="1481328"/>
            <a:ext cx="3063240" cy="41605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20" dirty="0" b="1">
                <a:solidFill>
                  <a:srgbClr val="172126"/>
                </a:solidFill>
                <a:latin typeface="Microsoft YaHei"/>
                <a:ea typeface="Microsoft YaHei"/>
              </a:rPr>
              <a:t>垃圾身份证字段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唯一编号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分类 / 材质 / 数量 / 重量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原图 / 增强图 / 识别图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坐标 / 潜点 / 时间 / 潜水员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风险 / 来源 / 清理状态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任务 / 审核 / 称重记录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4251960" y="1481328"/>
            <a:ext cx="3063240" cy="41605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20" dirty="0" b="1">
                <a:solidFill>
                  <a:srgbClr val="172126"/>
                </a:solidFill>
                <a:latin typeface="Microsoft YaHei"/>
                <a:ea typeface="Microsoft YaHei"/>
              </a:rPr>
              <a:t>AI 证据链字段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模型来源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模型版本 / Prompt 版本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输入引用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置信度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解释说明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人工确认 / 修正 / 退回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7726679" y="1481328"/>
            <a:ext cx="3154680" cy="41605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20" dirty="0" b="1">
                <a:solidFill>
                  <a:srgbClr val="172126"/>
                </a:solidFill>
                <a:latin typeface="Microsoft YaHei"/>
                <a:ea typeface="Microsoft YaHei"/>
              </a:rPr>
              <a:t>为什么重要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避免黑盒识别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支持人工复核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沉淀模型训练样本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形成可信治理台账</a:t>
            </a:r>
          </a:p>
          <a:p>
            <a:pPr algn="l"/>
            <a:r>
              <a:rPr lang="zh-CN" sz="1020" dirty="0">
                <a:solidFill>
                  <a:srgbClr val="172126"/>
                </a:solidFill>
                <a:latin typeface="Microsoft YaHei"/>
                <a:ea typeface="Microsoft YaHei"/>
              </a:rPr>
              <a:t>为报告和传播提供证据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7. 创新二：漂流溯源沙盘，把地图做成治理决策核心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从展示点位升级为“来源推理 + 扩散预测 + 行动规划”。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31520" y="1371600"/>
            <a:ext cx="5074920" cy="502920"/>
          </a:xfrm>
          <a:prstGeom prst="roundRect">
            <a:avLst/>
          </a:prstGeom>
          <a:solidFill>
            <a:srgbClr val="E6F2F1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1200" dirty="0" b="1">
                <a:solidFill>
                  <a:srgbClr val="064B58"/>
                </a:solidFill>
                <a:latin typeface="Microsoft YaHei"/>
                <a:ea typeface="Microsoft YaHei"/>
              </a:rPr>
              <a:t>输入：单件垃圾或区域范围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263640" y="1371600"/>
            <a:ext cx="5074920" cy="502920"/>
          </a:xfrm>
          <a:prstGeom prst="roundRect">
            <a:avLst/>
          </a:prstGeom>
          <a:solidFill>
            <a:srgbClr val="E6F2F1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1200" dirty="0" b="1">
                <a:solidFill>
                  <a:srgbClr val="064B58"/>
                </a:solidFill>
                <a:latin typeface="Microsoft YaHei"/>
                <a:ea typeface="Microsoft YaHei"/>
              </a:rPr>
              <a:t>输出：来源、扩散、不确定性和建议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777240" y="2212848"/>
            <a:ext cx="2834640" cy="1874519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空间数据底座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PostGIS 保存垃圾点、任务点、潜点和轨迹，支持区域查询。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3822191" y="2212848"/>
            <a:ext cx="2834640" cy="1874519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粒子漂流思想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基于 OpenDrift 接口设计，未来接入海流、潮汐、风场和岸线。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876288" y="2212848"/>
            <a:ext cx="2834640" cy="1874519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区域聚合分析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选择一片区域时同步显示垃圾位置，识别密集区和高风险聚集。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9921240" y="2212848"/>
            <a:ext cx="1417320" cy="1874519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行动</a:t>
            </a:r>
          </a:p>
          <a:p>
            <a:pPr algn="ctr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巡查</a:t>
            </a:r>
          </a:p>
          <a:p>
            <a:pPr algn="ctr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清理</a:t>
            </a:r>
          </a:p>
          <a:p>
            <a:pPr algn="ctr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拦截</a:t>
            </a:r>
          </a:p>
          <a:p>
            <a:pPr algn="ctr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复查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051560" y="4892040"/>
            <a:ext cx="10012680" cy="566928"/>
          </a:xfrm>
          <a:prstGeom prst="roundRect">
            <a:avLst/>
          </a:prstGeom>
          <a:solidFill>
            <a:srgbClr val="FFF0CC"/>
          </a:solidFill>
          <a:ln w="12000">
            <a:solidFill>
              <a:srgbClr val="F1D28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300" dirty="0" b="1">
                <a:solidFill>
                  <a:srgbClr val="064B58"/>
                </a:solidFill>
                <a:latin typeface="Microsoft YaHei"/>
                <a:ea typeface="Microsoft YaHei"/>
              </a:rPr>
              <a:t>项目特色表达：不是“看地图”，而是在地图上回答“从哪里来、往哪里去、先治理哪里”。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8. 创新三：多智能体报告，把 AI 结果转化为治理策略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LLM 不只是写报告，而是多角色协同推理。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22960" y="1417320"/>
            <a:ext cx="3337560" cy="94183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视觉分析 Agent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图像、分类、材质</a:t>
            </a:r>
          </a:p>
        </p:txBody>
      </p:sp>
      <p:sp>
        <p:nvSpPr>
          <p:cNvPr id="90" name="Shape 90"/>
          <p:cNvSpPr/>
          <p:nvPr/>
        </p:nvSpPr>
        <p:spPr>
          <a:xfrm>
            <a:off x="822960" y="1417320"/>
            <a:ext cx="73152" cy="941832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4526280" y="1417320"/>
            <a:ext cx="3337560" cy="94183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证据审计 Agent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置信度、复核建议</a:t>
            </a:r>
          </a:p>
        </p:txBody>
      </p:sp>
      <p:sp>
        <p:nvSpPr>
          <p:cNvPr id="91" name="Shape 91"/>
          <p:cNvSpPr/>
          <p:nvPr/>
        </p:nvSpPr>
        <p:spPr>
          <a:xfrm>
            <a:off x="4526280" y="1417320"/>
            <a:ext cx="73152" cy="941832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8229600" y="1417320"/>
            <a:ext cx="3337560" cy="94183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溯源推理 Agent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来源区、扩散方向</a:t>
            </a:r>
          </a:p>
        </p:txBody>
      </p:sp>
      <p:sp>
        <p:nvSpPr>
          <p:cNvPr id="92" name="Shape 92"/>
          <p:cNvSpPr/>
          <p:nvPr/>
        </p:nvSpPr>
        <p:spPr>
          <a:xfrm>
            <a:off x="8229600" y="1417320"/>
            <a:ext cx="73152" cy="941832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822960" y="2743200"/>
            <a:ext cx="3337560" cy="94183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安全评估 Agent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缠绕、尖锐、低能见度</a:t>
            </a:r>
          </a:p>
        </p:txBody>
      </p:sp>
      <p:sp>
        <p:nvSpPr>
          <p:cNvPr id="93" name="Shape 93"/>
          <p:cNvSpPr/>
          <p:nvPr/>
        </p:nvSpPr>
        <p:spPr>
          <a:xfrm>
            <a:off x="822960" y="2743200"/>
            <a:ext cx="73152" cy="941832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4526280" y="2743200"/>
            <a:ext cx="3337560" cy="94183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行动规划 Agent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任务、人员、优先级</a:t>
            </a:r>
          </a:p>
        </p:txBody>
      </p:sp>
      <p:sp>
        <p:nvSpPr>
          <p:cNvPr id="94" name="Shape 94"/>
          <p:cNvSpPr/>
          <p:nvPr/>
        </p:nvSpPr>
        <p:spPr>
          <a:xfrm>
            <a:off x="4526280" y="2743200"/>
            <a:ext cx="73152" cy="941832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8229600" y="2743200"/>
            <a:ext cx="3337560" cy="94183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公益影响 Agent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重量、贡献、传播</a:t>
            </a:r>
          </a:p>
        </p:txBody>
      </p:sp>
      <p:sp>
        <p:nvSpPr>
          <p:cNvPr id="95" name="Shape 95"/>
          <p:cNvSpPr/>
          <p:nvPr/>
        </p:nvSpPr>
        <p:spPr>
          <a:xfrm>
            <a:off x="8229600" y="2743200"/>
            <a:ext cx="73152" cy="941832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822960" y="4434840"/>
            <a:ext cx="489204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报告中心功能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生成草稿 -&gt; 右侧可查看 -&gt; 管理员确认发布 -&gt; 归档 -&gt; 打印/导出课件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6217920" y="4434840"/>
            <a:ext cx="4892040" cy="111556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报告内容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KPI 快照、材质分布、漂流引用、开放任务、志愿者心声、行动建议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9. 创新四：公益行动闭环，让每次清理都能证明影响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把志愿者行动、AI 数据和治理任务连起来。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闭环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85800" y="1417320"/>
            <a:ext cx="10835640" cy="50292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180" dirty="0" b="1">
                <a:solidFill>
                  <a:srgbClr val="064B58"/>
                </a:solidFill>
                <a:latin typeface="Microsoft YaHei"/>
                <a:ea typeface="Microsoft YaHei"/>
              </a:rPr>
              <a:t>发现问题 -&gt; 识别建档 -&gt; 岸上复核 -&gt; 后台审核 -&gt; 任务派发 -&gt; 清理完成 -&gt; 影响报告 -&gt; 公众传播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777240" y="2331720"/>
            <a:ext cx="2468880" cy="15087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潜水员贡献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工时、案例数、清理重量、完成任务</a:t>
            </a:r>
          </a:p>
        </p:txBody>
      </p:sp>
      <p:sp>
        <p:nvSpPr>
          <p:cNvPr id="95" name="Shape 95"/>
          <p:cNvSpPr/>
          <p:nvPr/>
        </p:nvSpPr>
        <p:spPr>
          <a:xfrm>
            <a:off x="777240" y="2331720"/>
            <a:ext cx="73152" cy="15087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3593592" y="2331720"/>
            <a:ext cx="2468880" cy="15087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组织治理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潜点趋势、高风险点、开放任务、审核积压</a:t>
            </a:r>
          </a:p>
        </p:txBody>
      </p:sp>
      <p:sp>
        <p:nvSpPr>
          <p:cNvPr id="96" name="Shape 96"/>
          <p:cNvSpPr/>
          <p:nvPr/>
        </p:nvSpPr>
        <p:spPr>
          <a:xfrm>
            <a:off x="3593592" y="2331720"/>
            <a:ext cx="73152" cy="15087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6409944" y="2331720"/>
            <a:ext cx="2468880" cy="15087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安全改进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志愿者反馈转化为复查任务</a:t>
            </a:r>
          </a:p>
        </p:txBody>
      </p:sp>
      <p:sp>
        <p:nvSpPr>
          <p:cNvPr id="97" name="Shape 97"/>
          <p:cNvSpPr/>
          <p:nvPr/>
        </p:nvSpPr>
        <p:spPr>
          <a:xfrm>
            <a:off x="6409944" y="2331720"/>
            <a:ext cx="73152" cy="15087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9226296" y="2331720"/>
            <a:ext cx="2468880" cy="15087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120" dirty="0" b="1">
                <a:solidFill>
                  <a:srgbClr val="172126"/>
                </a:solidFill>
                <a:latin typeface="Microsoft YaHei"/>
                <a:ea typeface="Microsoft YaHei"/>
              </a:rPr>
              <a:t>传播材料</a:t>
            </a:r>
          </a:p>
          <a:p>
            <a:pPr algn="l"/>
            <a:r>
              <a:rPr lang="zh-CN" sz="1120" dirty="0">
                <a:solidFill>
                  <a:srgbClr val="172126"/>
                </a:solidFill>
                <a:latin typeface="Microsoft YaHei"/>
                <a:ea typeface="Microsoft YaHei"/>
              </a:rPr>
              <a:t>可发布报告、课件、公益影响数据</a:t>
            </a:r>
          </a:p>
        </p:txBody>
      </p:sp>
      <p:sp>
        <p:nvSpPr>
          <p:cNvPr id="98" name="Shape 98"/>
          <p:cNvSpPr/>
          <p:nvPr/>
        </p:nvSpPr>
        <p:spPr>
          <a:xfrm>
            <a:off x="9226296" y="2331720"/>
            <a:ext cx="73152" cy="150876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914400" y="4983480"/>
            <a:ext cx="10012680" cy="530352"/>
          </a:xfrm>
          <a:prstGeom prst="roundRect">
            <a:avLst/>
          </a:prstGeom>
          <a:solidFill>
            <a:srgbClr val="FFF0CC"/>
          </a:solidFill>
          <a:ln w="12000">
            <a:solidFill>
              <a:srgbClr val="F1D28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1250" dirty="0" b="1">
                <a:solidFill>
                  <a:srgbClr val="064B58"/>
                </a:solidFill>
                <a:latin typeface="Microsoft YaHei"/>
                <a:ea typeface="Microsoft YaHei"/>
              </a:rPr>
              <a:t>SeeSea 的公益价值：让每一次活动不仅完成清理，还沉淀为科研数据、治理证据和传播资产。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F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29184"/>
            <a:ext cx="87782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550" dirty="0" b="1">
                <a:solidFill>
                  <a:srgbClr val="064B58"/>
                </a:solidFill>
                <a:latin typeface="Microsoft YaHei"/>
                <a:ea typeface="Microsoft YaHei"/>
              </a:rPr>
              <a:t>10. 总结：从单机构工具到区域海洋垃圾治理数字底座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7" y="841248"/>
            <a:ext cx="8961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>
                <a:solidFill>
                  <a:srgbClr val="617079"/>
                </a:solidFill>
                <a:latin typeface="Microsoft YaHei"/>
                <a:ea typeface="Microsoft YaHei"/>
              </a:rPr>
              <a:t>系统具备演示可用性，也保留生产级演进空间。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738360" y="384048"/>
            <a:ext cx="1920240" cy="365760"/>
          </a:xfrm>
          <a:prstGeom prst="roundRect">
            <a:avLst/>
          </a:prstGeom>
          <a:solidFill>
            <a:srgbClr val="E6F2F1"/>
          </a:solidFill>
          <a:ln w="12000">
            <a:solidFill>
              <a:srgbClr val="C4DFE2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zh-CN" sz="900" dirty="0" b="1">
                <a:solidFill>
                  <a:srgbClr val="0B6F7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77240" y="1417320"/>
            <a:ext cx="3337560" cy="25603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172126"/>
                </a:solidFill>
                <a:latin typeface="Microsoft YaHei"/>
                <a:ea typeface="Microsoft YaHei"/>
              </a:rPr>
              <a:t>当前已实现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双端响应式系统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高德地图点位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PostgreSQL + PostGIS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垃圾身份证 / 证据链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漂流沙盘 / 报告中心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4434840" y="1417320"/>
            <a:ext cx="3337560" cy="25603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172126"/>
                </a:solidFill>
                <a:latin typeface="Microsoft YaHei"/>
                <a:ea typeface="Microsoft YaHei"/>
              </a:rPr>
              <a:t>后续可扩展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真实模型接入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对象存储 / 异步队列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海流潮汐风场 reader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多机构权限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公众展示页 / PWA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092440" y="1417320"/>
            <a:ext cx="3337560" cy="25603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2E5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zh-CN" sz="1050" dirty="0" b="1">
                <a:solidFill>
                  <a:srgbClr val="172126"/>
                </a:solidFill>
                <a:latin typeface="Microsoft YaHei"/>
                <a:ea typeface="Microsoft YaHei"/>
              </a:rPr>
              <a:t>核心竞争力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需求贴合真实流程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可信 AI 而非黑盒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地图成为项目特色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报告可发布可传播</a:t>
            </a:r>
          </a:p>
          <a:p>
            <a:pPr algn="l"/>
            <a:r>
              <a:rPr lang="zh-CN" sz="1050" dirty="0">
                <a:solidFill>
                  <a:srgbClr val="172126"/>
                </a:solidFill>
                <a:latin typeface="Microsoft YaHei"/>
                <a:ea typeface="Microsoft YaHei"/>
              </a:rPr>
              <a:t>长期治理数据沉淀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68680" y="4892040"/>
            <a:ext cx="10241280" cy="658368"/>
          </a:xfrm>
          <a:prstGeom prst="roundRect">
            <a:avLst/>
          </a:prstGeom>
          <a:solidFill>
            <a:srgbClr val="064B58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zh-CN" sz="1550" dirty="0" b="1">
                <a:solidFill>
                  <a:srgbClr val="FFFFFF"/>
                </a:solidFill>
                <a:latin typeface="Microsoft YaHei"/>
                <a:ea typeface="Microsoft YaHei"/>
              </a:rPr>
              <a:t>一句话：SeeSea 把“水下垃圾清理活动”升级为“AI 驱动的海洋垃圾治理决策系统”。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eSea">
  <a:themeElements>
    <a:clrScheme name="SeeSea">
      <a:dk1>
        <a:srgbClr val="172126"/>
      </a:dk1>
      <a:lt1>
        <a:srgbClr val="FFFFFF"/>
      </a:lt1>
      <a:dk2>
        <a:srgbClr val="064B58"/>
      </a:dk2>
      <a:lt2>
        <a:srgbClr val="F4F7F8"/>
      </a:lt2>
      <a:accent1>
        <a:srgbClr val="0B6F7F"/>
      </a:accent1>
      <a:accent2>
        <a:srgbClr val="B66A00"/>
      </a:accent2>
      <a:accent3>
        <a:srgbClr val="2E7D56"/>
      </a:accent3>
      <a:accent4>
        <a:srgbClr val="B43B3B"/>
      </a:accent4>
      <a:accent5>
        <a:srgbClr val="2F6DB5"/>
      </a:accent5>
      <a:accent6>
        <a:srgbClr val="FFCF7A"/>
      </a:accent6>
      <a:hlink>
        <a:srgbClr val="2F6DB5"/>
      </a:hlink>
      <a:folHlink>
        <a:srgbClr val="2F6DB5"/>
      </a:folHlink>
    </a:clrScheme>
    <a:fontScheme name="SeeSea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SeeSea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SeeSea</Application>
  <Slides>11</Slides>
</Properties>
</file>

<file path=docProps/core.xml><?xml version="1.0" encoding="utf-8"?>
<cp:coreProperties xmlns:cp="http://schemas.openxmlformats.org/package/2006/metadata/core-properties" xmlns:dc="http://purl.org/dc/elements/1.1/">
  <dc:title>SeeSea 8分钟项目路演</dc:title>
  <dc:creator>Codex</dc:creator>
</cp:coreProperties>
</file>